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Georgia"/>
              </a:rPr>
              <a:t>Micro-violences et hypocrisie organisationnelle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Quels obstacles institutionnels et pédagogiques freinent
la mise en œuvre de pratiques « réellement » inclusives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Georgia"/>
              </a:rPr>
              <a:t>Jean-Michel Perez</a:t>
            </a:r>
          </a:p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Université de Lorraine - LISEC - INSPÉ de Lorraine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666666"/>
                </a:solidFill>
                <a:latin typeface="Calibri"/>
              </a:rPr>
              <a:t>AccessibleEU - Tous différents, tous apprenants
Annecy, 28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Georgia"/>
              </a:rPr>
              <a:t>Le rapport personnel à l'inclusion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Depuis 2005, le système éducatif français doit accueillir des élèves à besoins éducatifs particuliers. Mais les gens n'ont pas été préparés.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8B2020"/>
                </a:solidFill>
                <a:latin typeface="Calibri"/>
              </a:rPr>
              <a:t>- La peur de ce qu'on ne connaît pas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8B2020"/>
                </a:solidFill>
                <a:latin typeface="Calibri"/>
              </a:rPr>
              <a:t>- Des attitudes face à l'ordinaire qui ne bougent pas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8B2020"/>
                </a:solidFill>
                <a:latin typeface="Calibri"/>
              </a:rPr>
              <a:t>- Le sentiment de ne pas savoir faire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8B2020"/>
                </a:solidFill>
                <a:latin typeface="Calibri"/>
              </a:rPr>
              <a:t>- La résistance au changement - « on a toujours fait comme ça »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666666"/>
                </a:solidFill>
                <a:latin typeface="Georgia"/>
              </a:rPr>
              <a:t>« La valeur des choses ne suffit pas à convaincre les personnes de changer leurs habitudes »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Zaffran, 2013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Georgia"/>
              </a:rPr>
              <a:t>Le rapport de l'institution à l'objet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520 600 élèves en situation de handicap scolarisés. Mais beaucoup le sont en pointillés.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Pour répondre à cette peur, on construit des dispositifs qui se superposent : lois, AESH, PPS, MDPH, PAP, commissions...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8B2020"/>
                </a:solidFill>
                <a:latin typeface="Calibri"/>
              </a:rPr>
              <a:t>Mais les gens n'ont pas changé. Donc on ne produit pas de changement réel.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L'hypocrisie organisationnelle (Brunsson, 1989) :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DIRE  -  « L'école inclusive est une priorité »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DÉCIDER  -  Loi 2005, chartes, PAS, missions handicap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8B2020"/>
                </a:solidFill>
                <a:latin typeface="Calibri"/>
              </a:rPr>
              <a:t>FAIRE  -  81 % scolarisés &lt; 12h/semaine (Unapei)
               60 % des enseignants en souffrance (SNUipp-FSU, 2025)</a:t>
            </a:r>
          </a:p>
          <a:p>
            <a:pPr algn="l"/>
            <a:r>
              <a:rPr sz="1300" b="0" i="1">
                <a:solidFill>
                  <a:srgbClr val="000000"/>
                </a:solidFill>
                <a:latin typeface="Calibri"/>
              </a:rPr>
              <a:t>L'institution dit qu'elle change. Elle empile. Mais elle fonctionne comme avant.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Georgia"/>
              </a:rPr>
              <a:t>Des pratiques et attitudes incorporées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L'organisation permet que certains propos se développent sans que le système ne les contrôle. Ce n'est pas de la malveillance institutionnelle - mais ça permet, sans aucun contrôle, à de très nombreux propos de se diffuser.</a:t>
            </a:r>
          </a:p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8B2020"/>
                </a:solidFill>
                <a:latin typeface="Calibri"/>
              </a:rPr>
              <a:t>Enquête souvenirs scolaires (en cours, 2 200+ répondants) : 73 % des témoignages négatifs impliquent une figure d'autorité.</a:t>
            </a:r>
          </a:p>
          <a:p>
            <a:pPr algn="l">
              <a:spcAft>
                <a:spcPts val="100"/>
              </a:spcAft>
            </a:pPr>
            <a:r>
              <a:rPr sz="1200" b="0" i="1">
                <a:solidFill>
                  <a:srgbClr val="8B2020"/>
                </a:solidFill>
                <a:latin typeface="Georgia"/>
              </a:rPr>
              <a:t>« Un professeur a informé la classe que j'étais une profiteuse. »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handicap</a:t>
            </a:r>
          </a:p>
          <a:p>
            <a:pPr algn="l">
              <a:spcAft>
                <a:spcPts val="100"/>
              </a:spcAft>
            </a:pPr>
            <a:r>
              <a:rPr sz="1200" b="0" i="1">
                <a:solidFill>
                  <a:srgbClr val="8B2020"/>
                </a:solidFill>
                <a:latin typeface="Georgia"/>
              </a:rPr>
              <a:t>« Elle a mimé le niveau de la classe avec sa main au niveau de sa tête, a sauté sur le plancher et a dit que moi j'étais en dessous. »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hors handicap</a:t>
            </a:r>
          </a:p>
          <a:p>
            <a:pPr algn="l">
              <a:spcAft>
                <a:spcPts val="100"/>
              </a:spcAft>
            </a:pPr>
            <a:r>
              <a:rPr sz="1200" b="0" i="1">
                <a:solidFill>
                  <a:srgbClr val="8B2020"/>
                </a:solidFill>
                <a:latin typeface="Georgia"/>
              </a:rPr>
              <a:t>« Mes neurones étaient déconnectés. - Oui, je suis dysgraphique. - Ah justement ! »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handicap</a:t>
            </a:r>
          </a:p>
          <a:p>
            <a:pPr algn="l"/>
            <a:r>
              <a:rPr sz="1300" b="0" i="1">
                <a:solidFill>
                  <a:srgbClr val="000000"/>
                </a:solidFill>
                <a:latin typeface="Calibri"/>
              </a:rPr>
              <a:t>Ces paroles ne sont pas des accidents. Elles sont le produit d'un système.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Georgia"/>
              </a:rPr>
              <a:t>Mais le système a des failles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1">
                <a:solidFill>
                  <a:srgbClr val="3D5A3E"/>
                </a:solidFill>
                <a:latin typeface="Georgia"/>
              </a:rPr>
              <a:t>« Je n'ai découvert que j'étais en situation de handicap qu'en arrivant à l'université de Nancy. Avant, à Reims, tout était organisé de manière transparente pour moi, je n'avais qu'à me concentrer sur mes études. C'est a posteriori que j'ai réalisé la différence. »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handicap</a:t>
            </a:r>
          </a:p>
          <a:p>
            <a:pPr algn="l">
              <a:spcAft>
                <a:spcPts val="100"/>
              </a:spcAft>
            </a:pPr>
            <a:r>
              <a:rPr sz="1200" b="0" i="1">
                <a:solidFill>
                  <a:srgbClr val="3D5A3E"/>
                </a:solidFill>
                <a:latin typeface="Georgia"/>
              </a:rPr>
              <a:t>« Sam réussira toute sa vie et il ira très loin dans la vie. » Cette phrase m'a beaucoup marqué. Elle restera gravée à tout jamais.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hors handicap</a:t>
            </a:r>
          </a:p>
          <a:p>
            <a:pPr algn="l">
              <a:spcAft>
                <a:spcPts val="100"/>
              </a:spcAft>
            </a:pPr>
            <a:r>
              <a:rPr sz="1200" b="0" i="1">
                <a:solidFill>
                  <a:srgbClr val="3D5A3E"/>
                </a:solidFill>
                <a:latin typeface="Georgia"/>
              </a:rPr>
              <a:t>« Il a refusé de connaître la nature de mon handicap pour qu'aucun biais n'influence mon accompagnement. »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handicap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8B2020"/>
                </a:solidFill>
                <a:latin typeface="Georgia"/>
              </a:rPr>
              <a:t>Ce qui fait obstacle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Trois couches qui s'empilent :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8B2020"/>
                </a:solidFill>
                <a:latin typeface="Georgia"/>
              </a:rPr>
              <a:t>Le rapport personnel à l'inclusion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La peur, les attitudes, la résistance au changement.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8B2020"/>
                </a:solidFill>
                <a:latin typeface="Georgia"/>
              </a:rPr>
              <a:t>Le rapport de l'institution à l'objet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Des dispositifs qui se superposent sans changer les pratiques.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8B2020"/>
                </a:solidFill>
                <a:latin typeface="Georgia"/>
              </a:rPr>
              <a:t>Des pratiques et attitudes incorporées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Des gestes incorporés qui produisent de la violence sans que personne ne le veuille. Nous sommes les institutions - nous portons les normes que nous dénonçons.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Georgia"/>
              </a:rPr>
              <a:t>Mini-thèse 1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000000"/>
                </a:solidFill>
                <a:latin typeface="Calibri"/>
              </a:rPr>
              <a:t>C'est ce système-là qui fait obstacle. Ces phénomènes s'appellent douces-violences, micro-violences - et masquent un problème plus ancré : les proto-violences, des actes et des paroles qui ne peuvent pas être qualifiés de violences, mais au mieux de « sévérité pédagogique tout à fait justifiable ».</a:t>
            </a:r>
          </a:p>
          <a:p>
            <a:pPr algn="l"/>
            <a:r>
              <a:rPr sz="1300" b="1" i="1">
                <a:solidFill>
                  <a:srgbClr val="8B2020"/>
                </a:solidFill>
                <a:latin typeface="Georgia"/>
              </a:rPr>
              <a:t>Jusqu'à quand avons-nous envie de cautionner ce modèle d'éducation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Georgia"/>
              </a:rPr>
              <a:t>Mini-thèse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Georgia"/>
              </a:rPr>
              <a:t>Non pas dénoncer l'hypocrisie de l'extérieur,
traduite dans les micro-violences,
mais en discuter depuis sa position
dans l'institution.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Cadres, formateurs, équipes.</a:t>
            </a:r>
          </a:p>
          <a:p>
            <a:pPr algn="l">
              <a:spcAft>
                <a:spcPts val="1000"/>
              </a:spcAft>
            </a:pPr>
            <a:r>
              <a:rPr sz="1300" b="0" i="1">
                <a:solidFill>
                  <a:srgbClr val="000000"/>
                </a:solidFill>
                <a:latin typeface="Calibri"/>
              </a:rPr>
              <a:t>Comprendre la genèse, et ouvrir des failles dans la structure descendante du système éducatif français.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D5A3E"/>
                </a:solidFill>
                <a:latin typeface="Calibri"/>
              </a:rPr>
              <a:t>Rendre visibles les micro-violences, les proto-violences. Protéger les micro-attentions existantes mais périphériques : les enseignants qui procèdent ainsi sont en risques psycho-sociaux avérés.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D5A3E"/>
                </a:solidFill>
                <a:latin typeface="Calibri"/>
              </a:rPr>
              <a:t>Agir en reliance et non pas en isolement. C'est la voie de la responsabilité.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jean-michel.perez@univ-lorraine.fr - jean-michel-perez.fr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Georgia"/>
              </a:rPr>
              <a:t>Références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Brunsson, N. (1989). The Organization of Hypocrisy. Wiley.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Mazereau, P. (2011). Les déterminants des adaptations pédagogiques. Travail et formation en éducation, 8.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Muller, L. &amp; Perez, J.-M. (2024). Comprendre les micro-violences en éducation. Champ social.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Muller, L. &amp; Perez, J.-M. (dir.) (2024). Éducation et micro-violences [dossier]. La nouvelle revue - Éducation et société inclusives, 103.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Perez, J.-M. (en cours). L'école inclusive est un leurre : l'urgence de co-produire avec les élèves.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Suau, G. (2024). Ce que vivent les AESH. JARES / NRESI, 103.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Zaffran, J. (2013). Quelle école pour les élèves handicapés ? La Découverte.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SNUipp-FSU (2025). Consultation nationale sur l'école inclusive.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Unapei (2024). Rapport sur la scolarisation des élèves en situation de handicap.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Enquête permanente « souvenirs scolaires » (en cours, 2 200+ répondants).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Perez, J.-M. (2017). Handicap, garde ton cap. Congrès de Vittel, nov. 2017.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Perez, J.-M. &amp; Suau, G. (2026). L'école inclusive est un leurre ? Univ. libre de Bruxelles, 30-31 mars.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Perez, J.-M., Suau, G. &amp; Gualandi, M. (2026). Accessibilité distribuée. XIIe colloque OPHRIS, Toulouse, 11-12 mars.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Perez, J.-M. (2026). Micro-violences et hypocrisie organisationnelle. AccessibleEU, Annecy, 28 mai.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